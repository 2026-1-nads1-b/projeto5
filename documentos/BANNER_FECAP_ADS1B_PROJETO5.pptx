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8800425" cy="43200638"/>
  <p:notesSz cx="6858000" cy="9144000"/>
  <p:embeddedFontLst>
    <p:embeddedFont>
      <p:font typeface="Open Sans" pitchFamily="2" charset="0"/>
      <p:regular r:id="rId4"/>
      <p:bold r:id="rId5"/>
      <p:italic r:id="rId6"/>
      <p:boldItalic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" roundtripDataSignature="AMtx7mi+9yr4mDS8zg5+kfXTqvtBuST67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068" autoAdjust="0"/>
  </p:normalViewPr>
  <p:slideViewPr>
    <p:cSldViewPr snapToGrid="0">
      <p:cViewPr varScale="1">
        <p:scale>
          <a:sx n="17" d="100"/>
          <a:sy n="17" d="100"/>
        </p:scale>
        <p:origin x="3282" y="66"/>
      </p:cViewPr>
      <p:guideLst>
        <p:guide orient="horz" pos="4366"/>
        <p:guide pos="54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customschemas.google.com/relationships/presentationmetadata" Target="metadata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5" Type="http://schemas.openxmlformats.org/officeDocument/2006/relationships/viewProps" Target="viewProps.xml"/><Relationship Id="rId4" Type="http://schemas.openxmlformats.org/officeDocument/2006/relationships/font" Target="fonts/font1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685800"/>
            <a:ext cx="228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1306910" y="4305947"/>
            <a:ext cx="14811647" cy="2971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2613820" y="7854662"/>
            <a:ext cx="12197827" cy="3542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1376492" y="8907084"/>
            <a:ext cx="14811647" cy="275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sz="7623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1376492" y="5874955"/>
            <a:ext cx="14811647" cy="3032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8857946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871273" y="3102721"/>
            <a:ext cx="7699274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871273" y="4395787"/>
            <a:ext cx="7699274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8851896" y="3102721"/>
            <a:ext cx="7702299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8851896" y="4395787"/>
            <a:ext cx="7702299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871274" y="551880"/>
            <a:ext cx="5732859" cy="2348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6812874" y="551881"/>
            <a:ext cx="9741320" cy="11830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615823" algn="l"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marL="914400" lvl="1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marL="1371600" lvl="2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marL="1828800" lvl="3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marL="2286000" lvl="4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marL="2743200" lvl="5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marL="3200400" lvl="6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marL="3657600" lvl="7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marL="4114800" lvl="8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871274" y="2900579"/>
            <a:ext cx="5732859" cy="9481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3415514" y="9702817"/>
            <a:ext cx="10455280" cy="1145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415514" y="1238521"/>
            <a:ext cx="10455280" cy="83167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3415514" y="10848290"/>
            <a:ext cx="10455280" cy="1626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4138869" y="-33322"/>
            <a:ext cx="9147730" cy="1568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8680373" y="4508182"/>
            <a:ext cx="11826913" cy="3920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693699" y="732664"/>
            <a:ext cx="11826913" cy="11471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sz="838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615823" algn="l" rtl="0"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sz="609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567436" algn="l" rtl="0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sz="5336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519049" algn="l" rtl="0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sz="45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70599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4F3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34721" y="36273035"/>
            <a:ext cx="29324843" cy="6968084"/>
            <a:chOff x="0" y="-47625"/>
            <a:chExt cx="3032124" cy="65520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3032124" cy="607578"/>
            </a:xfrm>
            <a:custGeom>
              <a:avLst/>
              <a:gdLst/>
              <a:ahLst/>
              <a:cxnLst/>
              <a:rect l="l" t="t" r="r" b="b"/>
              <a:pathLst>
                <a:path w="3032124" h="607578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3163237" y="34829695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-234720" y="28800364"/>
            <a:ext cx="29304069" cy="9759747"/>
            <a:chOff x="0" y="-47625"/>
            <a:chExt cx="3163653" cy="917701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3163653" cy="870076"/>
            </a:xfrm>
            <a:custGeom>
              <a:avLst/>
              <a:gdLst/>
              <a:ahLst/>
              <a:cxnLst/>
              <a:rect l="l" t="t" r="r" b="b"/>
              <a:pathLst>
                <a:path w="3163653" h="870076" extrusionOk="0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l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234719" y="21010291"/>
            <a:ext cx="29324842" cy="9460531"/>
            <a:chOff x="0" y="-47625"/>
            <a:chExt cx="3225442" cy="889566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25442" cy="841941"/>
            </a:xfrm>
            <a:custGeom>
              <a:avLst/>
              <a:gdLst/>
              <a:ahLst/>
              <a:cxnLst/>
              <a:rect l="l" t="t" r="r" b="b"/>
              <a:pathLst>
                <a:path w="3225442" h="841941" extrusionOk="0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"/>
          <p:cNvGrpSpPr/>
          <p:nvPr/>
        </p:nvGrpSpPr>
        <p:grpSpPr>
          <a:xfrm>
            <a:off x="-234720" y="15561373"/>
            <a:ext cx="29304069" cy="8372962"/>
            <a:chOff x="0" y="-47625"/>
            <a:chExt cx="3032124" cy="787302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3032124" cy="739677"/>
            </a:xfrm>
            <a:custGeom>
              <a:avLst/>
              <a:gdLst/>
              <a:ahLst/>
              <a:cxnLst/>
              <a:rect l="l" t="t" r="r" b="b"/>
              <a:pathLst>
                <a:path w="3032124" h="739677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>
            <a:off x="-234719" y="6816147"/>
            <a:ext cx="29304069" cy="9226118"/>
            <a:chOff x="0" y="-47625"/>
            <a:chExt cx="3218728" cy="867524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3218728" cy="819899"/>
            </a:xfrm>
            <a:custGeom>
              <a:avLst/>
              <a:gdLst/>
              <a:ahLst/>
              <a:cxnLst/>
              <a:rect l="l" t="t" r="r" b="b"/>
              <a:pathLst>
                <a:path w="3218728" h="819899" extrusionOk="0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01" name="Google Shape;101;p1"/>
            <p:cNvSpPr/>
            <p:nvPr/>
          </p:nvSpPr>
          <p:spPr>
            <a:xfrm>
              <a:off x="0" y="0"/>
              <a:ext cx="2755436" cy="803341"/>
            </a:xfrm>
            <a:custGeom>
              <a:avLst/>
              <a:gdLst/>
              <a:ahLst/>
              <a:cxnLst/>
              <a:rect l="l" t="t" r="r" b="b"/>
              <a:pathLst>
                <a:path w="2755436" h="803341" extrusionOk="0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"/>
          <p:cNvGrpSpPr/>
          <p:nvPr/>
        </p:nvGrpSpPr>
        <p:grpSpPr>
          <a:xfrm rot="-5400000">
            <a:off x="11084396" y="13184457"/>
            <a:ext cx="20464104" cy="13034120"/>
            <a:chOff x="0" y="-47625"/>
            <a:chExt cx="1922704" cy="1224620"/>
          </a:xfrm>
        </p:grpSpPr>
        <p:sp>
          <p:nvSpPr>
            <p:cNvPr id="104" name="Google Shape;104;p1"/>
            <p:cNvSpPr/>
            <p:nvPr/>
          </p:nvSpPr>
          <p:spPr>
            <a:xfrm>
              <a:off x="0" y="0"/>
              <a:ext cx="1922704" cy="1176995"/>
            </a:xfrm>
            <a:custGeom>
              <a:avLst/>
              <a:gdLst/>
              <a:ahLst/>
              <a:cxnLst/>
              <a:rect l="l" t="t" r="r" b="b"/>
              <a:pathLst>
                <a:path w="1922704" h="1176995" extrusionOk="0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"/>
          <p:cNvGrpSpPr/>
          <p:nvPr/>
        </p:nvGrpSpPr>
        <p:grpSpPr>
          <a:xfrm>
            <a:off x="927180" y="30011217"/>
            <a:ext cx="13848538" cy="9234980"/>
            <a:chOff x="0" y="-47625"/>
            <a:chExt cx="1302166" cy="868357"/>
          </a:xfrm>
        </p:grpSpPr>
        <p:sp>
          <p:nvSpPr>
            <p:cNvPr id="107" name="Google Shape;107;p1"/>
            <p:cNvSpPr/>
            <p:nvPr/>
          </p:nvSpPr>
          <p:spPr>
            <a:xfrm>
              <a:off x="0" y="0"/>
              <a:ext cx="1302166" cy="820732"/>
            </a:xfrm>
            <a:custGeom>
              <a:avLst/>
              <a:gdLst/>
              <a:ahLst/>
              <a:cxnLst/>
              <a:rect l="l" t="t" r="r" b="b"/>
              <a:pathLst>
                <a:path w="1302166" h="820732" extrusionOk="0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"/>
          <p:cNvGrpSpPr/>
          <p:nvPr/>
        </p:nvGrpSpPr>
        <p:grpSpPr>
          <a:xfrm>
            <a:off x="15403306" y="30138544"/>
            <a:ext cx="12527228" cy="8125799"/>
            <a:chOff x="0" y="-314078"/>
            <a:chExt cx="8764870" cy="5685342"/>
          </a:xfrm>
        </p:grpSpPr>
        <p:grpSp>
          <p:nvGrpSpPr>
            <p:cNvPr id="110" name="Google Shape;110;p1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avLst/>
                <a:gdLst/>
                <a:ahLst/>
                <a:cxnLst/>
                <a:rect l="l" t="t" r="r" b="b"/>
                <a:pathLst>
                  <a:path w="1329056" h="814469" extrusionOk="0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 cmpd="sng">
                <a:solidFill>
                  <a:srgbClr val="000000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6769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6800" tIns="96800" rIns="96800" bIns="96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6769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"/>
            <p:cNvSpPr txBox="1"/>
            <p:nvPr/>
          </p:nvSpPr>
          <p:spPr>
            <a:xfrm>
              <a:off x="1064599" y="235141"/>
              <a:ext cx="6635674" cy="43332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762" b="1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REFERÊNCIAS</a:t>
              </a:r>
              <a:endParaRPr/>
            </a:p>
          </p:txBody>
        </p:sp>
      </p:grpSp>
      <p:sp>
        <p:nvSpPr>
          <p:cNvPr id="114" name="Google Shape;114;p1"/>
          <p:cNvSpPr/>
          <p:nvPr/>
        </p:nvSpPr>
        <p:spPr>
          <a:xfrm>
            <a:off x="-833688" y="1216423"/>
            <a:ext cx="8571184" cy="2454222"/>
          </a:xfrm>
          <a:custGeom>
            <a:avLst/>
            <a:gdLst/>
            <a:ahLst/>
            <a:cxnLst/>
            <a:rect l="l" t="t" r="r" b="b"/>
            <a:pathLst>
              <a:path w="4497722" h="1287851" extrusionOk="0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3163237" y="-4997460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21085103" y="1332191"/>
            <a:ext cx="7228385" cy="2335060"/>
          </a:xfrm>
          <a:custGeom>
            <a:avLst/>
            <a:gdLst/>
            <a:ahLst/>
            <a:cxnLst/>
            <a:rect l="l" t="t" r="r" b="b"/>
            <a:pathLst>
              <a:path w="3793089" h="1225321" extrusionOk="0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77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/>
          </a:p>
        </p:txBody>
      </p:sp>
      <p:grpSp>
        <p:nvGrpSpPr>
          <p:cNvPr id="119" name="Google Shape;119;p1"/>
          <p:cNvGrpSpPr/>
          <p:nvPr/>
        </p:nvGrpSpPr>
        <p:grpSpPr>
          <a:xfrm rot="-5400000">
            <a:off x="2494601" y="7477176"/>
            <a:ext cx="10206805" cy="14355430"/>
            <a:chOff x="0" y="-47625"/>
            <a:chExt cx="958980" cy="1348764"/>
          </a:xfrm>
        </p:grpSpPr>
        <p:sp>
          <p:nvSpPr>
            <p:cNvPr id="120" name="Google Shape;120;p1"/>
            <p:cNvSpPr/>
            <p:nvPr/>
          </p:nvSpPr>
          <p:spPr>
            <a:xfrm>
              <a:off x="0" y="0"/>
              <a:ext cx="958980" cy="1301139"/>
            </a:xfrm>
            <a:custGeom>
              <a:avLst/>
              <a:gdLst/>
              <a:ahLst/>
              <a:cxnLst/>
              <a:rect l="l" t="t" r="r" b="b"/>
              <a:pathLst>
                <a:path w="958980" h="1301139" extrusionOk="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1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2" name="Google Shape;122;p1"/>
          <p:cNvGrpSpPr/>
          <p:nvPr/>
        </p:nvGrpSpPr>
        <p:grpSpPr>
          <a:xfrm rot="-5400000">
            <a:off x="2616002" y="17805386"/>
            <a:ext cx="9963998" cy="14355430"/>
            <a:chOff x="0" y="-47625"/>
            <a:chExt cx="936167" cy="1348764"/>
          </a:xfrm>
        </p:grpSpPr>
        <p:sp>
          <p:nvSpPr>
            <p:cNvPr id="123" name="Google Shape;123;p1"/>
            <p:cNvSpPr/>
            <p:nvPr/>
          </p:nvSpPr>
          <p:spPr>
            <a:xfrm>
              <a:off x="0" y="0"/>
              <a:ext cx="936167" cy="1301139"/>
            </a:xfrm>
            <a:custGeom>
              <a:avLst/>
              <a:gdLst/>
              <a:ahLst/>
              <a:cxnLst/>
              <a:rect l="l" t="t" r="r" b="b"/>
              <a:pathLst>
                <a:path w="936167" h="1301139" extrusionOk="0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1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5" name="Google Shape;125;p1"/>
          <p:cNvSpPr/>
          <p:nvPr/>
        </p:nvSpPr>
        <p:spPr>
          <a:xfrm>
            <a:off x="22527251" y="36801439"/>
            <a:ext cx="5609093" cy="5642282"/>
          </a:xfrm>
          <a:custGeom>
            <a:avLst/>
            <a:gdLst/>
            <a:ahLst/>
            <a:cxnLst/>
            <a:rect l="l" t="t" r="r" b="b"/>
            <a:pathLst>
              <a:path w="2943367" h="2960783" extrusionOk="0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"/>
          <p:cNvSpPr txBox="1"/>
          <p:nvPr/>
        </p:nvSpPr>
        <p:spPr>
          <a:xfrm>
            <a:off x="0" y="3862327"/>
            <a:ext cx="28813765" cy="2797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algn="ctr">
              <a:lnSpc>
                <a:spcPct val="101005"/>
              </a:lnSpc>
            </a:pPr>
            <a:r>
              <a:rPr lang="pt-BR" sz="9000" b="1" i="0" dirty="0">
                <a:solidFill>
                  <a:srgbClr val="1F2328"/>
                </a:solidFill>
                <a:effectLst/>
                <a:latin typeface="Mona Sans VF"/>
              </a:rPr>
              <a:t>Projeto Interdisciplinar - Assinaturas de Jogos Educacionais</a:t>
            </a:r>
          </a:p>
          <a:p>
            <a:pPr marL="0" marR="0" lvl="0" indent="0" algn="ctr" rtl="0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0" dirty="0"/>
          </a:p>
        </p:txBody>
      </p:sp>
      <p:sp>
        <p:nvSpPr>
          <p:cNvPr id="127" name="Google Shape;127;p1"/>
          <p:cNvSpPr txBox="1"/>
          <p:nvPr/>
        </p:nvSpPr>
        <p:spPr>
          <a:xfrm>
            <a:off x="2284655" y="5214966"/>
            <a:ext cx="24286089" cy="30779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 dirty="0">
                <a:latin typeface="Open Sans"/>
                <a:ea typeface="Open Sans"/>
                <a:cs typeface="Open Sans"/>
                <a:sym typeface="Open Sans"/>
              </a:rPr>
              <a:t>Guilherme Ryuki</a:t>
            </a:r>
            <a:r>
              <a:rPr lang="en-US" sz="4762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Daniel Sulato, Daniel Camara, Pedro Luzivotto</a:t>
            </a:r>
            <a:endParaRPr dirty="0"/>
          </a:p>
          <a:p>
            <a:pPr marL="0" marR="0" lvl="0" indent="0" algn="ctr" rtl="0">
              <a:lnSpc>
                <a:spcPct val="1400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Orientadores: </a:t>
            </a:r>
            <a:r>
              <a:rPr lang="en-US" sz="4762" dirty="0">
                <a:latin typeface="Open Sans"/>
                <a:ea typeface="Open Sans"/>
                <a:cs typeface="Open Sans"/>
                <a:sym typeface="Open Sans"/>
              </a:rPr>
              <a:t>Francisco Escobar</a:t>
            </a:r>
            <a:r>
              <a:rPr lang="en-US" sz="4762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Katia Bossi, Renata Muniz, Robson de Oliveira, Marcelo Amorim</a:t>
            </a:r>
            <a:endParaRPr dirty="0"/>
          </a:p>
        </p:txBody>
      </p:sp>
      <p:sp>
        <p:nvSpPr>
          <p:cNvPr id="130" name="Google Shape;130;p1"/>
          <p:cNvSpPr txBox="1"/>
          <p:nvPr/>
        </p:nvSpPr>
        <p:spPr>
          <a:xfrm>
            <a:off x="2561448" y="30828367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TECNOLOGIAS UTILIZADAS</a:t>
            </a:r>
            <a:endParaRPr/>
          </a:p>
        </p:txBody>
      </p:sp>
      <p:sp>
        <p:nvSpPr>
          <p:cNvPr id="131" name="Google Shape;131;p1"/>
          <p:cNvSpPr txBox="1"/>
          <p:nvPr/>
        </p:nvSpPr>
        <p:spPr>
          <a:xfrm>
            <a:off x="16608355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 dirty="0"/>
          </a:p>
        </p:txBody>
      </p:sp>
      <p:sp>
        <p:nvSpPr>
          <p:cNvPr id="132" name="Google Shape;132;p1"/>
          <p:cNvSpPr txBox="1"/>
          <p:nvPr/>
        </p:nvSpPr>
        <p:spPr>
          <a:xfrm>
            <a:off x="264430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PROBLEMA</a:t>
            </a:r>
            <a:endParaRPr/>
          </a:p>
        </p:txBody>
      </p:sp>
      <p:sp>
        <p:nvSpPr>
          <p:cNvPr id="133" name="Google Shape;133;p1"/>
          <p:cNvSpPr txBox="1"/>
          <p:nvPr/>
        </p:nvSpPr>
        <p:spPr>
          <a:xfrm>
            <a:off x="2758254" y="20302839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PROPOSTA</a:t>
            </a:r>
            <a:endParaRPr/>
          </a:p>
        </p:txBody>
      </p:sp>
      <p:sp>
        <p:nvSpPr>
          <p:cNvPr id="135" name="Google Shape;135;p1"/>
          <p:cNvSpPr txBox="1"/>
          <p:nvPr/>
        </p:nvSpPr>
        <p:spPr>
          <a:xfrm>
            <a:off x="1595875" y="32098829"/>
            <a:ext cx="12562800" cy="663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O projeto foi desenvolvido utilizando tecnologias que garantem eficiência, organização e bom desempenho da aplicação.</a:t>
            </a:r>
          </a:p>
          <a:p>
            <a:pPr>
              <a:lnSpc>
                <a:spcPct val="150000"/>
              </a:lnSpc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• </a:t>
            </a:r>
            <a:r>
              <a:rPr lang="pt-BR" sz="343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C# (.NET)</a:t>
            </a: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– Desenvolvimento da aplicação</a:t>
            </a:r>
            <a:b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• </a:t>
            </a:r>
            <a:r>
              <a:rPr lang="pt-BR" sz="343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WinForms</a:t>
            </a: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– Interface desktop</a:t>
            </a:r>
            <a:b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• </a:t>
            </a:r>
            <a:r>
              <a:rPr lang="pt-BR" sz="343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SQL Server</a:t>
            </a: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– Banco de dados local</a:t>
            </a:r>
            <a:b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• </a:t>
            </a:r>
            <a:r>
              <a:rPr lang="pt-BR" sz="343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ADO.NET</a:t>
            </a: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– Acesso e manipulação de dados</a:t>
            </a:r>
            <a:b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• </a:t>
            </a:r>
            <a:r>
              <a:rPr lang="pt-BR" sz="3430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Draw.io</a:t>
            </a: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– Modelagem do sistema</a:t>
            </a:r>
          </a:p>
          <a:p>
            <a:pPr marL="514350" marR="0" lvl="0" indent="-51435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endParaRPr dirty="0"/>
          </a:p>
        </p:txBody>
      </p:sp>
      <p:sp>
        <p:nvSpPr>
          <p:cNvPr id="136" name="Google Shape;136;p1"/>
          <p:cNvSpPr txBox="1"/>
          <p:nvPr/>
        </p:nvSpPr>
        <p:spPr>
          <a:xfrm>
            <a:off x="1488520" y="11051473"/>
            <a:ext cx="12497952" cy="86349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 o crescimento do uso de jogos educacionais nas escolas, surge o desafio da falta de controle e gestão dessas plataformas.</a:t>
            </a:r>
          </a:p>
          <a:p>
            <a:pPr>
              <a:lnSpc>
                <a:spcPct val="150000"/>
              </a:lnSpc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Muitas instituições não possuem ferramentas adequadas para gerenciar assinaturas, controlar acessos e acompanhar o consumo mensal, gerando desorganização, uso indevido e dificuldade no controle dos limites.</a:t>
            </a:r>
          </a:p>
          <a:p>
            <a:pPr>
              <a:lnSpc>
                <a:spcPct val="150000"/>
              </a:lnSpc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Além disso, a ausência de relatórios claros compromete a análise e a tomada de decisões, tornando essencial uma solução mais segura e eficiente para esse cenário.</a:t>
            </a: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33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7" name="Google Shape;137;p1"/>
          <p:cNvSpPr txBox="1"/>
          <p:nvPr/>
        </p:nvSpPr>
        <p:spPr>
          <a:xfrm>
            <a:off x="1595875" y="21520437"/>
            <a:ext cx="12562800" cy="7864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Desenvolver uma aplicação desktop para centralizar e otimizar a gestão de jogos educacionais utilizados por escolas.</a:t>
            </a:r>
          </a:p>
          <a:p>
            <a:pPr>
              <a:lnSpc>
                <a:spcPct val="150000"/>
              </a:lnSpc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 solução permitirá o controle de assinaturas, validação de acessos por IP e monitoramento do consumo mensal, além de oferecer um catálogo de jogos conforme o pacote contratado e relatórios para acompanhamento.</a:t>
            </a:r>
          </a:p>
          <a:p>
            <a:pPr>
              <a:lnSpc>
                <a:spcPct val="150000"/>
              </a:lnSpc>
            </a:pPr>
            <a:r>
              <a:rPr lang="pt-BR" sz="343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 isso, a plataforma busca proporcionar mais organização, controle e eficiência no uso dos recursos educacionais.</a:t>
            </a: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43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8" name="Google Shape;138;p1"/>
          <p:cNvSpPr txBox="1"/>
          <p:nvPr/>
        </p:nvSpPr>
        <p:spPr>
          <a:xfrm>
            <a:off x="136933" y="39681833"/>
            <a:ext cx="28242600" cy="18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55" b="1">
                <a:latin typeface="Open Sans"/>
                <a:ea typeface="Open Sans"/>
                <a:cs typeface="Open Sans"/>
                <a:sym typeface="Open Sans"/>
              </a:rPr>
              <a:t>IV </a:t>
            </a:r>
            <a:r>
              <a:rPr lang="en-US" sz="4955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SEMANA FECAP DE TECNOLOGIA - 2026</a:t>
            </a:r>
            <a:endParaRPr/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5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Fundação Escola de Comércio Álvares Penteado - FECAP</a:t>
            </a:r>
            <a:endParaRPr/>
          </a:p>
        </p:txBody>
      </p:sp>
      <p:sp>
        <p:nvSpPr>
          <p:cNvPr id="139" name="Google Shape;139;p1"/>
          <p:cNvSpPr txBox="1"/>
          <p:nvPr/>
        </p:nvSpPr>
        <p:spPr>
          <a:xfrm>
            <a:off x="15509262" y="11201836"/>
            <a:ext cx="12091247" cy="8484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  <a:t>✔ Estrutura inicial do sistema desenvolvida com validação por IP autorizado.</a:t>
            </a:r>
            <a:b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  <a:t>✔ Modelagem conceitual do banco de dados para escolas, pacotes, games e logs.</a:t>
            </a:r>
            <a:b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  <a:t>✔ Protótipo Desktop em C# integrado ao SQL Server LocalDB.</a:t>
            </a:r>
            <a:b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  <a:t>✔ Organização da arquitetura em camadas para modularidade e manutenção.</a:t>
            </a:r>
            <a:b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  <a:t>✔ Fluxo principal definido:</a:t>
            </a:r>
            <a:b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</a:br>
            <a: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  <a:t>Login → Validação → Catálogo → Registro de acesso</a:t>
            </a:r>
            <a:r>
              <a:rPr lang="pt-BR" sz="3600" dirty="0">
                <a:latin typeface="Open Sans" pitchFamily="2" charset="0"/>
                <a:ea typeface="Open Sans" pitchFamily="2" charset="0"/>
                <a:cs typeface="Open Sans" pitchFamily="2" charset="0"/>
              </a:rPr>
              <a:t>.</a:t>
            </a:r>
            <a:endParaRPr lang="en-US" sz="3430" dirty="0">
              <a:solidFill>
                <a:srgbClr val="000000"/>
              </a:solidFill>
              <a:latin typeface="Open Sans" pitchFamily="2" charset="0"/>
              <a:ea typeface="Open Sans" pitchFamily="2" charset="0"/>
              <a:cs typeface="Open Sans" pitchFamily="2" charset="0"/>
              <a:sym typeface="Open Sans"/>
            </a:endParaRPr>
          </a:p>
          <a:p>
            <a:pPr marL="0" marR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343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459EE13A-FB59-E62C-E80C-130A2A171C33}"/>
              </a:ext>
            </a:extLst>
          </p:cNvPr>
          <p:cNvSpPr txBox="1"/>
          <p:nvPr/>
        </p:nvSpPr>
        <p:spPr>
          <a:xfrm>
            <a:off x="15895714" y="32218079"/>
            <a:ext cx="10841465" cy="39667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  <a:t>• Microsoft .NET Documentation</a:t>
            </a:r>
          </a:p>
          <a:p>
            <a:pPr>
              <a:lnSpc>
                <a:spcPct val="150000"/>
              </a:lnSpc>
            </a:pPr>
            <a: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  <a:t>• Windows Forms Documentation</a:t>
            </a:r>
          </a:p>
          <a:p>
            <a:pPr>
              <a:lnSpc>
                <a:spcPct val="150000"/>
              </a:lnSpc>
            </a:pPr>
            <a: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  <a:t>• Microsoft SQL Server Documentation</a:t>
            </a:r>
          </a:p>
          <a:p>
            <a:pPr>
              <a:lnSpc>
                <a:spcPct val="150000"/>
              </a:lnSpc>
            </a:pPr>
            <a: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  <a:t>• SOMMERVILLE, Ian – Engenharia de Software</a:t>
            </a:r>
          </a:p>
          <a:p>
            <a:pPr>
              <a:lnSpc>
                <a:spcPct val="150000"/>
              </a:lnSpc>
            </a:pPr>
            <a:r>
              <a:rPr lang="pt-BR" sz="3430" dirty="0">
                <a:latin typeface="Open Sans" pitchFamily="2" charset="0"/>
                <a:ea typeface="Open Sans" pitchFamily="2" charset="0"/>
                <a:cs typeface="Open Sans" pitchFamily="2" charset="0"/>
              </a:rPr>
              <a:t>• KUROSE &amp; ROSS – Redes de Computadores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7FA6135E-967B-F9D3-FCD7-8AF288A1CC2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481352" y="19686466"/>
            <a:ext cx="12177081" cy="1014446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</TotalTime>
  <Words>375</Words>
  <Application>Microsoft Office PowerPoint</Application>
  <PresentationFormat>Personalizar</PresentationFormat>
  <Paragraphs>25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Calibri</vt:lpstr>
      <vt:lpstr>Open Sans</vt:lpstr>
      <vt:lpstr>Arial</vt:lpstr>
      <vt:lpstr>Mona Sans VF</vt:lpstr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Guilherme Ryuki Kawahira</dc:creator>
  <cp:lastModifiedBy>Guilherme_RK</cp:lastModifiedBy>
  <cp:revision>2</cp:revision>
  <dcterms:created xsi:type="dcterms:W3CDTF">2006-08-16T00:00:00Z</dcterms:created>
  <dcterms:modified xsi:type="dcterms:W3CDTF">2026-05-14T06:29:34Z</dcterms:modified>
</cp:coreProperties>
</file>